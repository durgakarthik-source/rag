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2" r:id="rId5"/>
    <p:sldId id="260" r:id="rId6"/>
    <p:sldId id="259" r:id="rId7"/>
    <p:sldId id="261" r:id="rId8"/>
    <p:sldId id="262" r:id="rId9"/>
    <p:sldId id="271" r:id="rId10"/>
    <p:sldId id="263" r:id="rId11"/>
    <p:sldId id="264" r:id="rId12"/>
    <p:sldId id="265" r:id="rId13"/>
    <p:sldId id="266" r:id="rId14"/>
    <p:sldId id="267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23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AF0059-F09B-47A7-AC25-EAFBC71640D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DA4C8E-5D40-4BCC-9FFD-4F7FE3DAA3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4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Human learning by experience, observation, reasoning,</a:t>
            </a:r>
            <a:r>
              <a:rPr lang="en-IN" baseline="0" dirty="0" smtClean="0"/>
              <a:t> common sense. Suppose when we </a:t>
            </a:r>
            <a:r>
              <a:rPr lang="en-IN" baseline="0" dirty="0" err="1" smtClean="0"/>
              <a:t>touc</a:t>
            </a:r>
            <a:r>
              <a:rPr lang="en-IN" baseline="0" dirty="0" smtClean="0"/>
              <a:t> a hot stove. We learn : Hot stove-&gt;pain -&gt; avoid touching </a:t>
            </a:r>
            <a:r>
              <a:rPr lang="en-IN" baseline="0" dirty="0" err="1" smtClean="0"/>
              <a:t>againg</a:t>
            </a:r>
            <a:endParaRPr lang="en-IN" baseline="0" dirty="0" smtClean="0"/>
          </a:p>
          <a:p>
            <a:r>
              <a:rPr lang="en-IN" baseline="0" dirty="0" smtClean="0"/>
              <a:t>LLM learning</a:t>
            </a:r>
          </a:p>
          <a:p>
            <a:r>
              <a:rPr lang="en-IN" baseline="0" dirty="0" smtClean="0"/>
              <a:t>During training It may see</a:t>
            </a:r>
          </a:p>
          <a:p>
            <a:r>
              <a:rPr lang="en-IN" baseline="0" dirty="0" smtClean="0"/>
              <a:t>The capital of INDIA IS </a:t>
            </a:r>
            <a:r>
              <a:rPr lang="en-IN" baseline="0" dirty="0" err="1" smtClean="0"/>
              <a:t>NewDelhi</a:t>
            </a:r>
            <a:endParaRPr lang="en-IN" baseline="0" dirty="0" smtClean="0"/>
          </a:p>
          <a:p>
            <a:r>
              <a:rPr lang="en-IN" baseline="0" dirty="0" smtClean="0"/>
              <a:t>New Delhi is capital of India</a:t>
            </a:r>
          </a:p>
          <a:p>
            <a:r>
              <a:rPr lang="en-IN" baseline="0" dirty="0" smtClean="0"/>
              <a:t>India’s capital city is New Delhi</a:t>
            </a:r>
          </a:p>
          <a:p>
            <a:r>
              <a:rPr lang="en-IN" baseline="0" dirty="0" smtClean="0"/>
              <a:t>It learns that </a:t>
            </a:r>
          </a:p>
          <a:p>
            <a:r>
              <a:rPr lang="en-IN" baseline="0" dirty="0" smtClean="0"/>
              <a:t>India-&gt;Capital-&gt;New Delhi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DA4C8E-5D40-4BCC-9FFD-4F7FE3DAA31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223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300" y="1828801"/>
            <a:ext cx="8153400" cy="3219450"/>
          </a:xfrm>
        </p:spPr>
        <p:txBody>
          <a:bodyPr/>
          <a:lstStyle/>
          <a:p>
            <a:r>
              <a:rPr sz="4000" dirty="0"/>
              <a:t>Generative AI </a:t>
            </a:r>
            <a:r>
              <a:rPr lang="en-IN" sz="4000" dirty="0" smtClean="0"/>
              <a:t>Beyond Standalone </a:t>
            </a:r>
            <a:r>
              <a:rPr sz="4000" dirty="0" smtClean="0"/>
              <a:t>LLMs: </a:t>
            </a:r>
            <a:r>
              <a:rPr lang="en-IN" sz="4000" dirty="0" smtClean="0"/>
              <a:t/>
            </a:r>
            <a:br>
              <a:rPr lang="en-IN" sz="4000" dirty="0" smtClean="0"/>
            </a:br>
            <a:r>
              <a:rPr lang="en-IN" dirty="0" smtClean="0"/>
              <a:t>Practical</a:t>
            </a:r>
            <a:r>
              <a:rPr dirty="0" smtClean="0"/>
              <a:t> RAG</a:t>
            </a:r>
            <a:r>
              <a:rPr lang="en-IN" dirty="0" smtClean="0"/>
              <a:t> Applications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572000"/>
            <a:ext cx="6400800" cy="2260600"/>
          </a:xfrm>
        </p:spPr>
        <p:txBody>
          <a:bodyPr>
            <a:normAutofit/>
          </a:bodyPr>
          <a:lstStyle/>
          <a:p>
            <a:endParaRPr lang="en-IN" dirty="0" smtClean="0"/>
          </a:p>
          <a:p>
            <a:endParaRPr lang="en-IN" dirty="0"/>
          </a:p>
          <a:p>
            <a:r>
              <a:rPr b="1" dirty="0" smtClean="0"/>
              <a:t>Presented </a:t>
            </a:r>
            <a:r>
              <a:rPr b="1" dirty="0"/>
              <a:t>by: Dr. </a:t>
            </a:r>
            <a:r>
              <a:rPr b="1" dirty="0" err="1"/>
              <a:t>Durga</a:t>
            </a:r>
            <a:r>
              <a:rPr b="1" dirty="0"/>
              <a:t> </a:t>
            </a:r>
            <a:r>
              <a:rPr b="1" dirty="0" err="1"/>
              <a:t>Karthik</a:t>
            </a:r>
            <a:endParaRPr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0" y="0"/>
            <a:ext cx="6731000" cy="17052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44463"/>
            <a:ext cx="8229600" cy="906463"/>
          </a:xfrm>
        </p:spPr>
        <p:txBody>
          <a:bodyPr>
            <a:normAutofit/>
          </a:bodyPr>
          <a:lstStyle/>
          <a:p>
            <a:r>
              <a:rPr sz="3600" b="1" dirty="0"/>
              <a:t>What Happened on 30 November 2022?</a:t>
            </a:r>
          </a:p>
        </p:txBody>
      </p:sp>
      <p:sp>
        <p:nvSpPr>
          <p:cNvPr id="4" name="AutoShape 2" descr="ChatGPT: Revolutionizing how we search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ChatGPT: Revolutionizing how we search"/>
          <p:cNvSpPr>
            <a:spLocks noChangeAspect="1" noChangeArrowheads="1"/>
          </p:cNvSpPr>
          <p:nvPr/>
        </p:nvSpPr>
        <p:spPr bwMode="auto">
          <a:xfrm>
            <a:off x="1065213" y="1130300"/>
            <a:ext cx="6750050" cy="6750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92" y="609600"/>
            <a:ext cx="7972946" cy="62681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dirty="0"/>
              <a:t>What is Artificial 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25613"/>
            <a:ext cx="8229600" cy="4811713"/>
          </a:xfrm>
        </p:spPr>
        <p:txBody>
          <a:bodyPr>
            <a:normAutofit/>
          </a:bodyPr>
          <a:lstStyle/>
          <a:p>
            <a:r>
              <a:rPr dirty="0"/>
              <a:t>AI enables machines to perform tasks requiring human intelligence</a:t>
            </a:r>
            <a:r>
              <a:rPr dirty="0" smtClean="0"/>
              <a:t>.</a:t>
            </a:r>
            <a:endParaRPr lang="en-IN" dirty="0" smtClean="0"/>
          </a:p>
          <a:p>
            <a:pPr marL="0" indent="0">
              <a:buNone/>
            </a:pPr>
            <a:endParaRPr dirty="0"/>
          </a:p>
          <a:p>
            <a:r>
              <a:rPr sz="2400" dirty="0"/>
              <a:t>Examples: Face recognition, speech recognition, translation, recommendations</a:t>
            </a:r>
            <a:r>
              <a:rPr sz="2400" dirty="0" smtClean="0"/>
              <a:t>.</a:t>
            </a: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AI evolution overview infographic"/>
          <p:cNvSpPr>
            <a:spLocks noChangeAspect="1" noChangeArrowheads="1"/>
          </p:cNvSpPr>
          <p:nvPr/>
        </p:nvSpPr>
        <p:spPr bwMode="auto">
          <a:xfrm>
            <a:off x="1323975" y="10112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38" y="379015"/>
            <a:ext cx="9007761" cy="600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59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Generative AI </a:t>
            </a:r>
            <a:r>
              <a:rPr dirty="0" err="1"/>
              <a:t>vs</a:t>
            </a:r>
            <a:r>
              <a:rPr dirty="0"/>
              <a:t> Traditional AI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468" y="1417638"/>
            <a:ext cx="6607834" cy="21148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102" y="4037162"/>
            <a:ext cx="69873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Example </a:t>
            </a:r>
          </a:p>
          <a:p>
            <a:r>
              <a:rPr lang="en-IN" dirty="0" smtClean="0"/>
              <a:t>Traditional AI							      Generative AI</a:t>
            </a:r>
          </a:p>
          <a:p>
            <a:endParaRPr lang="en-IN" dirty="0"/>
          </a:p>
          <a:p>
            <a:r>
              <a:rPr lang="en-IN" dirty="0" smtClean="0"/>
              <a:t>Is this email spam?						  Draft a professional email.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Generative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 smtClean="0">
                <a:solidFill>
                  <a:srgbClr val="00B0F0"/>
                </a:solidFill>
              </a:rPr>
              <a:t>Creates </a:t>
            </a:r>
            <a:r>
              <a:rPr dirty="0" smtClean="0">
                <a:solidFill>
                  <a:srgbClr val="00B0F0"/>
                </a:solidFill>
              </a:rPr>
              <a:t>new content</a:t>
            </a:r>
            <a:r>
              <a:rPr lang="en-IN" dirty="0" smtClean="0">
                <a:solidFill>
                  <a:srgbClr val="00B0F0"/>
                </a:solidFill>
              </a:rPr>
              <a:t> instead of merely analysing data.</a:t>
            </a:r>
          </a:p>
          <a:p>
            <a:r>
              <a:rPr lang="en-IN" dirty="0" smtClean="0"/>
              <a:t>Can generate </a:t>
            </a:r>
            <a:r>
              <a:rPr dirty="0" smtClean="0"/>
              <a:t>: </a:t>
            </a:r>
            <a:r>
              <a:rPr dirty="0"/>
              <a:t>Text, Images, Audio, Video, Code.</a:t>
            </a:r>
          </a:p>
          <a:p>
            <a:pPr marL="0" indent="0">
              <a:buNone/>
            </a:pPr>
            <a:r>
              <a:rPr dirty="0"/>
              <a:t>Examples: </a:t>
            </a:r>
            <a:endParaRPr lang="en-IN" dirty="0" smtClean="0"/>
          </a:p>
          <a:p>
            <a:r>
              <a:rPr dirty="0" err="1" smtClean="0"/>
              <a:t>ChatGPT</a:t>
            </a:r>
            <a:r>
              <a:rPr lang="en-IN" dirty="0" smtClean="0"/>
              <a:t> – </a:t>
            </a:r>
            <a:r>
              <a:rPr lang="en-IN" dirty="0"/>
              <a:t>Multi modal LLM</a:t>
            </a:r>
          </a:p>
          <a:p>
            <a:r>
              <a:rPr dirty="0" smtClean="0"/>
              <a:t> Gemini</a:t>
            </a:r>
            <a:r>
              <a:rPr lang="en-IN" dirty="0" smtClean="0"/>
              <a:t> – Multi modal LLM</a:t>
            </a:r>
          </a:p>
          <a:p>
            <a:r>
              <a:rPr dirty="0" smtClean="0"/>
              <a:t> Claude</a:t>
            </a:r>
            <a:r>
              <a:rPr lang="en-IN" dirty="0" smtClean="0"/>
              <a:t> – Multi modal LLM</a:t>
            </a:r>
          </a:p>
          <a:p>
            <a:r>
              <a:rPr lang="en-IN" dirty="0"/>
              <a:t> </a:t>
            </a:r>
            <a:r>
              <a:rPr lang="en-IN" dirty="0" smtClean="0"/>
              <a:t>Llama 3- LLM (primarily text)</a:t>
            </a:r>
            <a:endParaRPr lang="en-IN" dirty="0"/>
          </a:p>
          <a:p>
            <a:r>
              <a:rPr dirty="0" smtClean="0"/>
              <a:t> DALL-E</a:t>
            </a:r>
            <a:r>
              <a:rPr lang="en-IN" dirty="0" smtClean="0"/>
              <a:t> – Image Generation Model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>
            <a:normAutofit fontScale="90000"/>
          </a:bodyPr>
          <a:lstStyle/>
          <a:p>
            <a:r>
              <a:rPr dirty="0"/>
              <a:t>What is a Large Language Model (LLM)?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 smtClean="0"/>
              <a:t>AN LLM is a </a:t>
            </a:r>
            <a:r>
              <a:rPr dirty="0" smtClean="0"/>
              <a:t>neural </a:t>
            </a:r>
            <a:r>
              <a:rPr dirty="0"/>
              <a:t>network trained on massive </a:t>
            </a:r>
            <a:r>
              <a:rPr lang="en-IN" dirty="0" smtClean="0"/>
              <a:t>amount of text.</a:t>
            </a:r>
          </a:p>
          <a:p>
            <a:pPr marL="0" indent="0">
              <a:buNone/>
            </a:pPr>
            <a:r>
              <a:rPr dirty="0" smtClean="0"/>
              <a:t>Examples</a:t>
            </a:r>
            <a:r>
              <a:rPr dirty="0"/>
              <a:t>: </a:t>
            </a:r>
            <a:r>
              <a:rPr dirty="0" err="1"/>
              <a:t>ChatGPT</a:t>
            </a:r>
            <a:r>
              <a:rPr dirty="0"/>
              <a:t>, Gemini, Claude, Llama</a:t>
            </a:r>
            <a:r>
              <a:rPr dirty="0" smtClean="0"/>
              <a:t>.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Learns : Grammar, Facts, Patterns, Reasoning</a:t>
            </a:r>
          </a:p>
          <a:p>
            <a:pPr marL="0" indent="0">
              <a:buNone/>
            </a:pPr>
            <a:r>
              <a:rPr lang="en-IN" dirty="0" smtClean="0">
                <a:solidFill>
                  <a:srgbClr val="FF0000"/>
                </a:solidFill>
              </a:rPr>
              <a:t>       </a:t>
            </a:r>
            <a:r>
              <a:rPr lang="en-IN" dirty="0" smtClean="0">
                <a:solidFill>
                  <a:srgbClr val="FF0000"/>
                </a:solidFill>
              </a:rPr>
              <a:t>           Does </a:t>
            </a:r>
            <a:r>
              <a:rPr lang="en-IN" dirty="0" smtClean="0">
                <a:solidFill>
                  <a:srgbClr val="FF0000"/>
                </a:solidFill>
              </a:rPr>
              <a:t>Not Learn Like Humans</a:t>
            </a:r>
            <a:endParaRPr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 smtClean="0"/>
              <a:t>It </a:t>
            </a:r>
            <a:r>
              <a:rPr dirty="0" smtClean="0"/>
              <a:t>Predicts </a:t>
            </a:r>
            <a:r>
              <a:rPr dirty="0"/>
              <a:t>the </a:t>
            </a:r>
            <a:r>
              <a:rPr dirty="0">
                <a:solidFill>
                  <a:srgbClr val="00B0F0"/>
                </a:solidFill>
              </a:rPr>
              <a:t>next most probable </a:t>
            </a:r>
            <a:r>
              <a:rPr dirty="0" smtClean="0">
                <a:solidFill>
                  <a:srgbClr val="00B0F0"/>
                </a:solidFill>
              </a:rPr>
              <a:t>token</a:t>
            </a:r>
            <a:r>
              <a:rPr lang="en-IN" dirty="0"/>
              <a:t> </a:t>
            </a:r>
            <a:r>
              <a:rPr lang="en-IN" dirty="0" smtClean="0"/>
              <a:t>using                  </a:t>
            </a:r>
            <a:r>
              <a:rPr lang="en-IN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Transformer arch- </a:t>
            </a:r>
          </a:p>
          <a:p>
            <a:pPr marL="0" indent="0">
              <a:buNone/>
            </a:pPr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N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                </a:t>
            </a:r>
            <a:r>
              <a:rPr lang="en-IN" dirty="0" smtClean="0">
                <a:solidFill>
                  <a:srgbClr val="FF0000"/>
                </a:solidFill>
              </a:rPr>
              <a:t>Attention is All you need- </a:t>
            </a:r>
            <a:r>
              <a:rPr lang="en-IN" i="1" dirty="0" smtClean="0"/>
              <a:t>Neural Information Processing systems -2017</a:t>
            </a:r>
            <a:endParaRPr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How an LLM </a:t>
            </a:r>
            <a:r>
              <a:rPr dirty="0" smtClean="0"/>
              <a:t>Works</a:t>
            </a:r>
            <a:r>
              <a:rPr lang="en-IN" dirty="0" smtClean="0"/>
              <a:t> ?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777" y="1477209"/>
            <a:ext cx="4265003" cy="473381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24321" y="3480616"/>
            <a:ext cx="226248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Parallel Processing on </a:t>
            </a:r>
          </a:p>
          <a:p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IN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all tokens</a:t>
            </a:r>
          </a:p>
          <a:p>
            <a:r>
              <a:rPr lang="en-IN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Self Attention captures relationships Training faster</a:t>
            </a:r>
          </a:p>
          <a:p>
            <a:r>
              <a:rPr lang="en-IN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scalable</a:t>
            </a:r>
          </a:p>
          <a:p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98543" y="1655923"/>
            <a:ext cx="3202557" cy="48013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India is famous for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Predict next word:</a:t>
            </a:r>
          </a:p>
          <a:p>
            <a:r>
              <a:rPr lang="en-IN" dirty="0"/>
              <a:t>"its"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India is famous for its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Predict next word:</a:t>
            </a:r>
          </a:p>
          <a:p>
            <a:r>
              <a:rPr lang="en-IN" dirty="0"/>
              <a:t>"rich"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India is famous for its rich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Predict next word:</a:t>
            </a:r>
          </a:p>
          <a:p>
            <a:r>
              <a:rPr lang="en-IN" dirty="0"/>
              <a:t>"culture"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India is famous for its rich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58900" y="672860"/>
            <a:ext cx="665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Example Prompt in </a:t>
            </a:r>
            <a:r>
              <a:rPr lang="en-IN" sz="2400" b="1" dirty="0" err="1" smtClean="0"/>
              <a:t>ChatGpt</a:t>
            </a:r>
            <a:r>
              <a:rPr lang="en-IN" sz="2400" dirty="0" smtClean="0"/>
              <a:t>:   India </a:t>
            </a:r>
            <a:r>
              <a:rPr lang="en-IN" sz="2400" dirty="0"/>
              <a:t>is famous for</a:t>
            </a:r>
            <a:endParaRPr lang="en-IN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300029"/>
              </p:ext>
            </p:extLst>
          </p:nvPr>
        </p:nvGraphicFramePr>
        <p:xfrm>
          <a:off x="474452" y="1679525"/>
          <a:ext cx="4925684" cy="2560320"/>
        </p:xfrm>
        <a:graphic>
          <a:graphicData uri="http://schemas.openxmlformats.org/drawingml/2006/table">
            <a:tbl>
              <a:tblPr/>
              <a:tblGrid>
                <a:gridCol w="2462842"/>
                <a:gridCol w="2462842"/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2"/>
                          </a:solidFill>
                        </a:rPr>
                        <a:t>Possible Next 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2"/>
                          </a:solidFill>
                        </a:rPr>
                        <a:t>Probability (Illustrative)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cricket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20%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diversity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culture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spices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83952" y="4953000"/>
            <a:ext cx="49256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LLMs do not understand facts like humans; they learn patterns from massive amounts of text.</a:t>
            </a:r>
            <a:br>
              <a:rPr lang="en-US" dirty="0"/>
            </a:br>
            <a:r>
              <a:rPr lang="en-US" dirty="0"/>
              <a:t>They generate responses by predicting </a:t>
            </a:r>
            <a:r>
              <a:rPr lang="en-US" dirty="0" smtClean="0"/>
              <a:t>(</a:t>
            </a:r>
            <a:r>
              <a:rPr lang="en-US" dirty="0" smtClean="0">
                <a:solidFill>
                  <a:schemeClr val="accent2"/>
                </a:solidFill>
              </a:rPr>
              <a:t>not understanding</a:t>
            </a:r>
            <a:r>
              <a:rPr lang="en-US" dirty="0" smtClean="0"/>
              <a:t>) the </a:t>
            </a:r>
            <a:r>
              <a:rPr lang="en-US" dirty="0"/>
              <a:t>most likely next word (token).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758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How Gen AI supports</a:t>
            </a:r>
            <a:r>
              <a:rPr dirty="0" smtClean="0"/>
              <a:t> </a:t>
            </a:r>
            <a:r>
              <a:rPr dirty="0"/>
              <a:t>Faculty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Teaching: lesson plans, question </a:t>
            </a:r>
            <a:r>
              <a:rPr dirty="0" smtClean="0"/>
              <a:t>papers</a:t>
            </a:r>
            <a:r>
              <a:rPr lang="en-IN" dirty="0" smtClean="0"/>
              <a:t>,result analysis…</a:t>
            </a:r>
            <a:endParaRPr dirty="0"/>
          </a:p>
          <a:p>
            <a:r>
              <a:rPr dirty="0"/>
              <a:t>Research: literature reviews.</a:t>
            </a:r>
          </a:p>
          <a:p>
            <a:r>
              <a:rPr dirty="0"/>
              <a:t>Administration: reports and accreditation documents.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Limitations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Hallucination</a:t>
            </a:r>
          </a:p>
          <a:p>
            <a:r>
              <a:t>2. Knowledge Cutoff</a:t>
            </a:r>
          </a:p>
          <a:p>
            <a:r>
              <a:t>3. Domain-Specific Knowledge Gap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Hallucination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0800"/>
            <a:ext cx="8229600" cy="4805363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AI may generate convincing but incorrect information.</a:t>
            </a:r>
          </a:p>
          <a:p>
            <a:r>
              <a:rPr dirty="0"/>
              <a:t>LLMs generate probable text, not verified </a:t>
            </a:r>
            <a:r>
              <a:rPr dirty="0" smtClean="0"/>
              <a:t>facts.</a:t>
            </a:r>
            <a:endParaRPr lang="en-IN" dirty="0" smtClean="0"/>
          </a:p>
          <a:p>
            <a:r>
              <a:rPr lang="en-IN" dirty="0" smtClean="0"/>
              <a:t>Real world examples</a:t>
            </a:r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r>
              <a:rPr lang="en-IN" dirty="0" smtClean="0"/>
              <a:t>Now : It has better training, instruction tuning, fact verification, Web access to avoid hallucination.</a:t>
            </a:r>
          </a:p>
          <a:p>
            <a:r>
              <a:rPr lang="en-IN" dirty="0" err="1" smtClean="0"/>
              <a:t>Also,now</a:t>
            </a:r>
            <a:r>
              <a:rPr lang="en-IN" dirty="0" smtClean="0"/>
              <a:t>  it is trained to say  : I </a:t>
            </a:r>
            <a:r>
              <a:rPr lang="en-IN" dirty="0" err="1" smtClean="0"/>
              <a:t>donot</a:t>
            </a:r>
            <a:r>
              <a:rPr lang="en-IN" dirty="0" smtClean="0"/>
              <a:t> know</a:t>
            </a:r>
          </a:p>
          <a:p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1215483" y="3087506"/>
            <a:ext cx="65457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Mata v. </a:t>
            </a:r>
            <a:r>
              <a:rPr lang="en-IN" b="1" dirty="0" err="1"/>
              <a:t>Avianca</a:t>
            </a:r>
            <a:r>
              <a:rPr lang="en-IN" b="1" dirty="0"/>
              <a:t> (Fake Court Cases)</a:t>
            </a:r>
            <a:r>
              <a:rPr lang="en-IN" dirty="0"/>
              <a:t> </a:t>
            </a:r>
            <a:r>
              <a:rPr lang="en-IN" dirty="0" smtClean="0"/>
              <a:t> - 2023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Google Bard – James Webb Telescope Error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Fake Academic References/Citations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Air Canada </a:t>
            </a:r>
            <a:r>
              <a:rPr lang="en-IN" b="1" dirty="0" err="1"/>
              <a:t>Chatbot</a:t>
            </a:r>
            <a:r>
              <a:rPr lang="en-IN" b="1" dirty="0"/>
              <a:t> Bereavement Fare Case</a:t>
            </a:r>
            <a:r>
              <a:rPr lang="en-IN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Cutoff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may not know events or updates beyond their training period.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Domain-Specific Knowledge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Example: Latest </a:t>
            </a:r>
            <a:r>
              <a:rPr lang="en-IN" dirty="0" smtClean="0"/>
              <a:t> NBA DETAILS</a:t>
            </a:r>
            <a:endParaRPr dirty="0"/>
          </a:p>
          <a:p>
            <a:r>
              <a:rPr dirty="0"/>
              <a:t>University policies may not be present in training data.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Need for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RAG = Retrieval + Knowledge Base + LLM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✓ Accesses external documents</a:t>
            </a:r>
          </a:p>
          <a:p>
            <a:r>
              <a:rPr lang="en-IN" dirty="0"/>
              <a:t>✓ Reduces hallucinations</a:t>
            </a:r>
          </a:p>
          <a:p>
            <a:r>
              <a:rPr lang="en-IN" dirty="0"/>
              <a:t>✓ Generates document-grounded answers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 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59006"/>
            <a:ext cx="8229600" cy="45496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548</Words>
  <Application>Microsoft Office PowerPoint</Application>
  <PresentationFormat>On-screen Show (4:3)</PresentationFormat>
  <Paragraphs>110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Generative AI Beyond Standalone LLMs:  Practical RAG Applications</vt:lpstr>
      <vt:lpstr>What Happened on 30 November 2022?</vt:lpstr>
      <vt:lpstr>What is Artificial Intelligence?</vt:lpstr>
      <vt:lpstr>PowerPoint Presentation</vt:lpstr>
      <vt:lpstr>Generative AI vs Traditional AI</vt:lpstr>
      <vt:lpstr>What is Generative AI?</vt:lpstr>
      <vt:lpstr>What is a Large Language Model (LLM)?</vt:lpstr>
      <vt:lpstr>How an LLM Works ?</vt:lpstr>
      <vt:lpstr>PowerPoint Presentation</vt:lpstr>
      <vt:lpstr>How Gen AI supports Faculty </vt:lpstr>
      <vt:lpstr>Limitations</vt:lpstr>
      <vt:lpstr>Hallucination</vt:lpstr>
      <vt:lpstr>Knowledge Cutoff</vt:lpstr>
      <vt:lpstr>Domain-Specific Knowledge Gap</vt:lpstr>
      <vt:lpstr>The Need for RAG</vt:lpstr>
      <vt:lpstr> 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 and Large Language Models (LLMs): Foundations for RAG</dc:title>
  <dc:subject/>
  <dc:creator>sastra</dc:creator>
  <cp:keywords/>
  <dc:description>generated using python-pptx</dc:description>
  <cp:lastModifiedBy>Microsoft account</cp:lastModifiedBy>
  <cp:revision>33</cp:revision>
  <dcterms:created xsi:type="dcterms:W3CDTF">2013-01-27T09:14:16Z</dcterms:created>
  <dcterms:modified xsi:type="dcterms:W3CDTF">2026-07-02T05:42:17Z</dcterms:modified>
  <cp:category/>
</cp:coreProperties>
</file>