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83" r:id="rId7"/>
    <p:sldId id="266" r:id="rId8"/>
    <p:sldId id="284" r:id="rId9"/>
    <p:sldId id="286" r:id="rId10"/>
    <p:sldId id="267" r:id="rId11"/>
    <p:sldId id="28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7125"/>
            <a:ext cx="7772400" cy="1470025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Why RAG?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84500"/>
            <a:ext cx="6400800" cy="2654300"/>
          </a:xfrm>
        </p:spPr>
        <p:txBody>
          <a:bodyPr>
            <a:normAutofit/>
          </a:bodyPr>
          <a:lstStyle/>
          <a:p>
            <a:r>
              <a:rPr dirty="0"/>
              <a:t>Retrieval-Augmented Generation </a:t>
            </a:r>
            <a:endParaRPr lang="en-IN" dirty="0"/>
          </a:p>
          <a:p>
            <a:endParaRPr lang="en-IN" dirty="0"/>
          </a:p>
          <a:p>
            <a:r>
              <a:rPr dirty="0" smtClean="0">
                <a:solidFill>
                  <a:srgbClr val="FF0000"/>
                </a:solidFill>
              </a:rPr>
              <a:t>Solving </a:t>
            </a:r>
            <a:r>
              <a:rPr dirty="0">
                <a:solidFill>
                  <a:srgbClr val="FF0000"/>
                </a:solidFill>
              </a:rPr>
              <a:t>the limitations of Large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with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powerful but suffer from:</a:t>
            </a:r>
          </a:p>
          <a:p>
            <a:r>
              <a:t>• Hallucinations</a:t>
            </a:r>
          </a:p>
          <a:p>
            <a:r>
              <a:t>• Knowledge cutoff</a:t>
            </a:r>
          </a:p>
          <a:p>
            <a:r>
              <a:t>• Lack of domain-specific knowledge</a:t>
            </a:r>
          </a:p>
          <a:p>
            <a:r>
              <a:t>• No access to private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RAG Architecture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88" y="1417638"/>
            <a:ext cx="8583223" cy="49704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Document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Load PDFs, Word documents, websites, policies, </a:t>
            </a:r>
            <a:r>
              <a:rPr dirty="0" smtClean="0"/>
              <a:t>regulations</a:t>
            </a:r>
            <a:r>
              <a:rPr dirty="0"/>
              <a:t>, and manuals</a:t>
            </a:r>
            <a:r>
              <a:rPr dirty="0" smtClean="0"/>
              <a:t>.</a:t>
            </a:r>
            <a:endParaRPr lang="en-IN" dirty="0" smtClean="0"/>
          </a:p>
          <a:p>
            <a:r>
              <a:rPr lang="en-IN" dirty="0" smtClean="0"/>
              <a:t>Code </a:t>
            </a:r>
            <a:endParaRPr lang="en-IN" dirty="0"/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714500" y="34290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google.colab</a:t>
            </a:r>
            <a:r>
              <a:rPr lang="en-IN" dirty="0"/>
              <a:t> import files</a:t>
            </a:r>
          </a:p>
          <a:p>
            <a:endParaRPr lang="en-IN" dirty="0"/>
          </a:p>
          <a:p>
            <a:r>
              <a:rPr lang="en-IN" dirty="0"/>
              <a:t>uploaded = </a:t>
            </a:r>
            <a:r>
              <a:rPr lang="en-IN" dirty="0" err="1"/>
              <a:t>files.upload</a:t>
            </a:r>
            <a:r>
              <a:rPr lang="en-IN" dirty="0"/>
              <a:t>()</a:t>
            </a:r>
          </a:p>
          <a:p>
            <a:r>
              <a:rPr lang="en-IN" dirty="0" err="1"/>
              <a:t>pdf_file</a:t>
            </a:r>
            <a:r>
              <a:rPr lang="en-IN" dirty="0"/>
              <a:t> = list(</a:t>
            </a:r>
            <a:r>
              <a:rPr lang="en-IN" dirty="0" err="1"/>
              <a:t>uploaded.keys</a:t>
            </a:r>
            <a:r>
              <a:rPr lang="en-IN" dirty="0"/>
              <a:t>())[0]</a:t>
            </a:r>
          </a:p>
          <a:p>
            <a:endParaRPr lang="en-IN" dirty="0"/>
          </a:p>
          <a:p>
            <a:r>
              <a:rPr lang="en-IN" dirty="0"/>
              <a:t>print("Uploaded:", </a:t>
            </a:r>
            <a:r>
              <a:rPr lang="en-IN" dirty="0" err="1"/>
              <a:t>pdf_file</a:t>
            </a:r>
            <a:r>
              <a:rPr lang="en-IN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2: Text Chunking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1417638"/>
            <a:ext cx="8225390" cy="50084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836" y="723901"/>
            <a:ext cx="7716327" cy="4449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836" y="5372100"/>
            <a:ext cx="740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no single best chunking method. The choice depends on the application, document type, and retrieval requirements.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862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Convert text into vectors using embedding </a:t>
            </a:r>
            <a:r>
              <a:rPr dirty="0" smtClean="0"/>
              <a:t>models.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17" y="2862916"/>
            <a:ext cx="7329899" cy="2416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2" y="293298"/>
            <a:ext cx="8317011" cy="575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02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7337" y="698838"/>
            <a:ext cx="55435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Chunk 1: Students must maintain 75% attendance.</a:t>
            </a:r>
          </a:p>
          <a:p>
            <a:endParaRPr lang="en-IN" dirty="0"/>
          </a:p>
          <a:p>
            <a:r>
              <a:rPr lang="en-IN" dirty="0"/>
              <a:t>Chunk 2: Minimum attendance required is 75%.</a:t>
            </a:r>
          </a:p>
          <a:p>
            <a:endParaRPr lang="en-IN" dirty="0"/>
          </a:p>
          <a:p>
            <a:r>
              <a:rPr lang="en-IN" dirty="0"/>
              <a:t>Chunk 3: Faculty are entitled to vacation leave.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957386" y="312324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Chunk 1 → [0.23, -0.45, 0.67, ...]</a:t>
            </a:r>
          </a:p>
          <a:p>
            <a:endParaRPr lang="en-IN" dirty="0"/>
          </a:p>
          <a:p>
            <a:r>
              <a:rPr lang="en-IN" dirty="0"/>
              <a:t>Chunk 2 → [0.25, -0.42, 0.70, ...]</a:t>
            </a:r>
          </a:p>
          <a:p>
            <a:endParaRPr lang="en-IN" dirty="0"/>
          </a:p>
          <a:p>
            <a:r>
              <a:rPr lang="en-IN" dirty="0"/>
              <a:t>Chunk 3 → [0.91, 0.12, -0.34, ...]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7386" y="2455753"/>
            <a:ext cx="3743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Embedding Model (all-MiniLM-L6-v2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831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4: Vector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   Document </a:t>
            </a:r>
            <a:r>
              <a:rPr lang="en-IN" dirty="0"/>
              <a:t>Chunks</a:t>
            </a:r>
          </a:p>
          <a:p>
            <a:pPr marL="0" indent="0">
              <a:buNone/>
            </a:pPr>
            <a:r>
              <a:rPr lang="en-IN" dirty="0" smtClean="0"/>
              <a:t>             </a:t>
            </a: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 smtClean="0"/>
              <a:t>     </a:t>
            </a:r>
            <a:r>
              <a:rPr lang="en-IN" dirty="0" err="1"/>
              <a:t>Embeddings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   </a:t>
            </a: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 smtClean="0"/>
              <a:t>       </a:t>
            </a:r>
            <a:r>
              <a:rPr lang="en-IN" dirty="0"/>
              <a:t>┌───────────────────┐</a:t>
            </a:r>
          </a:p>
          <a:p>
            <a:pPr marL="0" indent="0">
              <a:buNone/>
            </a:pPr>
            <a:r>
              <a:rPr lang="en-IN" dirty="0" smtClean="0"/>
              <a:t>       </a:t>
            </a:r>
            <a:r>
              <a:rPr lang="en-IN" dirty="0"/>
              <a:t>│  Vector </a:t>
            </a:r>
            <a:r>
              <a:rPr lang="en-IN" dirty="0" smtClean="0"/>
              <a:t>Database          </a:t>
            </a:r>
            <a:r>
              <a:rPr lang="en-IN" dirty="0"/>
              <a:t>│</a:t>
            </a:r>
          </a:p>
          <a:p>
            <a:pPr marL="0" indent="0">
              <a:buNone/>
            </a:pPr>
            <a:r>
              <a:rPr lang="en-IN" dirty="0" smtClean="0"/>
              <a:t>       └───────────────────┘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 </a:t>
            </a: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 smtClean="0"/>
              <a:t>  FAISS </a:t>
            </a:r>
            <a:r>
              <a:rPr lang="en-IN" dirty="0"/>
              <a:t>| </a:t>
            </a:r>
            <a:r>
              <a:rPr lang="en-IN" dirty="0" err="1"/>
              <a:t>ChromaDB</a:t>
            </a:r>
            <a:r>
              <a:rPr lang="en-IN" dirty="0"/>
              <a:t> | Pinecone | </a:t>
            </a:r>
            <a:r>
              <a:rPr lang="en-IN" dirty="0" err="1" smtClean="0"/>
              <a:t>Weaviate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996030"/>
              </p:ext>
            </p:extLst>
          </p:nvPr>
        </p:nvGraphicFramePr>
        <p:xfrm>
          <a:off x="457200" y="68866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Vector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FAISS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Learning,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ChromaDB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RAG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Pinecone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Production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Weaviate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Cloud/Open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Enterprise AI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86928" y="3104404"/>
            <a:ext cx="57710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  Traditional Database                    Vector </a:t>
            </a:r>
            <a:r>
              <a:rPr lang="en-IN" dirty="0"/>
              <a:t>Database</a:t>
            </a:r>
          </a:p>
          <a:p>
            <a:endParaRPr lang="en-IN" dirty="0"/>
          </a:p>
          <a:p>
            <a:r>
              <a:rPr lang="en-IN" dirty="0" smtClean="0"/>
              <a:t>    Stores Records                            </a:t>
            </a:r>
            <a:r>
              <a:rPr lang="en-IN" dirty="0"/>
              <a:t>Stores Meanings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243012" y="432464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Ex: "Attendance </a:t>
            </a:r>
            <a:r>
              <a:rPr lang="en-IN" dirty="0"/>
              <a:t>Requirement"</a:t>
            </a:r>
          </a:p>
          <a:p>
            <a:r>
              <a:rPr lang="en-IN" dirty="0"/>
              <a:t>      </a:t>
            </a:r>
            <a:r>
              <a:rPr lang="en-IN" dirty="0" smtClean="0"/>
              <a:t>        </a:t>
            </a:r>
            <a:r>
              <a:rPr lang="en-IN" dirty="0"/>
              <a:t>≈</a:t>
            </a:r>
          </a:p>
          <a:p>
            <a:r>
              <a:rPr lang="en-IN" dirty="0"/>
              <a:t>"Minimum Attendance Percentage"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09463"/>
            <a:ext cx="8315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vector Database store </a:t>
            </a:r>
            <a:r>
              <a:rPr lang="en-US" i="1" dirty="0" err="1"/>
              <a:t>embeddings</a:t>
            </a:r>
            <a:r>
              <a:rPr lang="en-US" i="1" dirty="0"/>
              <a:t> and help RAG systems retrieve semantically relevant information instead of relying on exact keyword matching.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25835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5: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Retrieve the most relevant chunks using similarity search</a:t>
            </a:r>
            <a:r>
              <a:rPr dirty="0" smtClean="0"/>
              <a:t>.</a:t>
            </a:r>
            <a:r>
              <a:rPr lang="en-IN" dirty="0"/>
              <a:t> Retrieval Methods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smtClean="0"/>
              <a:t>     • </a:t>
            </a:r>
            <a:r>
              <a:rPr lang="en-IN" dirty="0"/>
              <a:t>Keyword Search (BM25)</a:t>
            </a:r>
          </a:p>
          <a:p>
            <a:pPr marL="0" indent="0">
              <a:buNone/>
            </a:pPr>
            <a:r>
              <a:rPr lang="en-IN" dirty="0" smtClean="0"/>
              <a:t>     • </a:t>
            </a:r>
            <a:r>
              <a:rPr lang="en-IN" dirty="0"/>
              <a:t>Semantic Search (</a:t>
            </a:r>
            <a:r>
              <a:rPr lang="en-IN" dirty="0" err="1"/>
              <a:t>Embeddings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smtClean="0"/>
              <a:t>     • </a:t>
            </a:r>
            <a:r>
              <a:rPr lang="en-IN" dirty="0"/>
              <a:t>Hybrid Search (BM25 + Semantic)</a:t>
            </a:r>
          </a:p>
          <a:p>
            <a:pPr marL="0" indent="0">
              <a:buNone/>
            </a:pPr>
            <a:r>
              <a:rPr lang="en-IN" dirty="0" smtClean="0"/>
              <a:t>     • </a:t>
            </a:r>
            <a:r>
              <a:rPr lang="en-IN" dirty="0"/>
              <a:t>Similarity Search (FAISS)</a:t>
            </a:r>
          </a:p>
          <a:p>
            <a:pPr marL="0" indent="0">
              <a:buNone/>
            </a:pPr>
            <a:r>
              <a:rPr lang="en-IN" dirty="0" smtClean="0"/>
              <a:t>     • </a:t>
            </a:r>
            <a:r>
              <a:rPr lang="en-IN" dirty="0"/>
              <a:t>MMR </a:t>
            </a:r>
            <a:r>
              <a:rPr lang="en-IN" dirty="0" smtClean="0"/>
              <a:t>Retrieval – Maximum </a:t>
            </a:r>
            <a:r>
              <a:rPr lang="en-IN" dirty="0" err="1" smtClean="0"/>
              <a:t>MarginaL</a:t>
            </a:r>
            <a:r>
              <a:rPr lang="en-IN" dirty="0" smtClean="0"/>
              <a:t> Relevance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• </a:t>
            </a:r>
            <a:r>
              <a:rPr lang="en-IN" dirty="0"/>
              <a:t>Multi-Query Retrieval</a:t>
            </a:r>
          </a:p>
          <a:p>
            <a:endParaRPr lang="en-IN" dirty="0"/>
          </a:p>
          <a:p>
            <a:r>
              <a:rPr lang="en-IN" dirty="0"/>
              <a:t>Most Modern RAG Systems:</a:t>
            </a:r>
          </a:p>
          <a:p>
            <a:r>
              <a:rPr lang="en-IN" dirty="0"/>
              <a:t>Hybrid Search + Similarity Search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Prompt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71563"/>
          </a:xfrm>
        </p:spPr>
        <p:txBody>
          <a:bodyPr/>
          <a:lstStyle/>
          <a:p>
            <a:r>
              <a:rPr dirty="0"/>
              <a:t>Combine user query with retrieved context before sending to LLM</a:t>
            </a:r>
            <a:r>
              <a:rPr dirty="0" smtClean="0"/>
              <a:t>.</a:t>
            </a:r>
            <a:endParaRPr lang="en-IN" dirty="0" smtClean="0"/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85825" y="3046363"/>
            <a:ext cx="56435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Context:</a:t>
            </a:r>
          </a:p>
          <a:p>
            <a:r>
              <a:rPr lang="en-IN" dirty="0"/>
              <a:t>Students must maintain a minimum attendance of 75%.</a:t>
            </a:r>
          </a:p>
          <a:p>
            <a:endParaRPr lang="en-IN" dirty="0"/>
          </a:p>
          <a:p>
            <a:r>
              <a:rPr lang="en-IN" dirty="0"/>
              <a:t>Question:</a:t>
            </a:r>
          </a:p>
          <a:p>
            <a:r>
              <a:rPr lang="en-IN" dirty="0"/>
              <a:t>What is the attendance requirement?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Answer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generates an answer grounded in retrieved documents.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24" y="2700109"/>
            <a:ext cx="6830378" cy="32580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RAG Example – University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 What is the minimum attendance requirement?</a:t>
            </a:r>
          </a:p>
          <a:p>
            <a:r>
              <a:t>Retriever fetches regulation document.</a:t>
            </a:r>
          </a:p>
          <a:p>
            <a:r>
              <a:t>LLM answers using actual policy.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hallucinations</a:t>
            </a:r>
          </a:p>
          <a:p>
            <a:r>
              <a:t>• Access to private knowledge</a:t>
            </a:r>
          </a:p>
          <a:p>
            <a:r>
              <a:t>• Up-to-date information</a:t>
            </a:r>
          </a:p>
          <a:p>
            <a:r>
              <a:t>• No model retraining required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vs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Fine-Tuning changes model weights.</a:t>
            </a:r>
          </a:p>
          <a:p>
            <a:r>
              <a:t>RAG keeps model unchanged and updates knowledge through documents.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handbook chatbot</a:t>
            </a:r>
          </a:p>
          <a:p>
            <a:r>
              <a:t>Research assistant</a:t>
            </a:r>
          </a:p>
          <a:p>
            <a:r>
              <a:t>Policy assistant</a:t>
            </a:r>
          </a:p>
          <a:p>
            <a:r>
              <a:t>Question bank assistant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support</a:t>
            </a:r>
          </a:p>
          <a:p>
            <a:r>
              <a:t>Legal document search</a:t>
            </a:r>
          </a:p>
          <a:p>
            <a:r>
              <a:t>Healthcare knowledge assistant</a:t>
            </a:r>
          </a:p>
          <a:p>
            <a:r>
              <a:t>Enterprise search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Chunking quality</a:t>
            </a:r>
          </a:p>
          <a:p>
            <a:r>
              <a:t>Embedding quality</a:t>
            </a:r>
          </a:p>
          <a:p>
            <a:r>
              <a:t>Retrieval accuracy</a:t>
            </a:r>
          </a:p>
          <a:p>
            <a:r>
              <a:t>Context window limitations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Search</a:t>
            </a:r>
          </a:p>
          <a:p>
            <a:r>
              <a:t>BM25 + Semantic Search</a:t>
            </a:r>
          </a:p>
          <a:p>
            <a:r>
              <a:t>Re-ranking</a:t>
            </a:r>
          </a:p>
          <a:p>
            <a:r>
              <a:t>Multi-query Retrieval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enables trustworthy, document-grounded AI systems without retraining LLMs.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</TotalTime>
  <Words>529</Words>
  <Application>Microsoft Office PowerPoint</Application>
  <PresentationFormat>On-screen Show (4:3)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Why RAG?</vt:lpstr>
      <vt:lpstr>The Problem with LLMs</vt:lpstr>
      <vt:lpstr>RAG Architecture</vt:lpstr>
      <vt:lpstr>Step 1: Document Loading</vt:lpstr>
      <vt:lpstr>Step 2: Text Chunking</vt:lpstr>
      <vt:lpstr>PowerPoint Presentation</vt:lpstr>
      <vt:lpstr>Step 3: Embeddings</vt:lpstr>
      <vt:lpstr>PowerPoint Presentation</vt:lpstr>
      <vt:lpstr>PowerPoint Presentation</vt:lpstr>
      <vt:lpstr>Step 4: Vector Database</vt:lpstr>
      <vt:lpstr>PowerPoint Presentation</vt:lpstr>
      <vt:lpstr>Step 5: Retrieval</vt:lpstr>
      <vt:lpstr>Step 6: Prompt Augmentation</vt:lpstr>
      <vt:lpstr>Step 7: Answer Generation</vt:lpstr>
      <vt:lpstr>RAG Example – University Regulations</vt:lpstr>
      <vt:lpstr>Benefits of RAG</vt:lpstr>
      <vt:lpstr>RAG vs Fine-Tuning</vt:lpstr>
      <vt:lpstr>Educational Applications</vt:lpstr>
      <vt:lpstr>Industrial Applications</vt:lpstr>
      <vt:lpstr>Challenges in RAG</vt:lpstr>
      <vt:lpstr>Advanced RAG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RAG?</dc:title>
  <dc:subject/>
  <dc:creator>sastra</dc:creator>
  <cp:keywords/>
  <dc:description>generated using python-pptx</dc:description>
  <cp:lastModifiedBy>Microsoft account</cp:lastModifiedBy>
  <cp:revision>15</cp:revision>
  <dcterms:created xsi:type="dcterms:W3CDTF">2013-01-27T09:14:16Z</dcterms:created>
  <dcterms:modified xsi:type="dcterms:W3CDTF">2026-07-02T05:42:54Z</dcterms:modified>
  <cp:category/>
</cp:coreProperties>
</file>